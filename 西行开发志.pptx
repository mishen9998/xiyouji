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411980"/>
            <a:ext cx="73152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西行开发志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50" kern="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西游记 Roguelike 卡牌游戏 · 开发进程与功能模块编年史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开发周期：2026年7月21日 — 7月26日    |    开发组：西游记团队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「九九八十一难，皆在代码之中」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凡六章，自项目概览至收官志要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76656" y="1234440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234440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1307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62456" y="128016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角色、卡牌、妖怪、宝物总览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234440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1307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12664" y="128016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开发纪元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六日开发时间线 · 二十二节点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6656" y="1911096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1911096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1984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62456" y="195681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四堆牌库 · 战斗FSM · 伤害公式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26864" y="1911096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911096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4764024" y="1984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12664" y="195681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十大模块 · 四层架构全景图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6656" y="2587752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2587752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" y="26609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62456" y="263347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工程实践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· 分布式 · 监控部署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26864" y="2587752"/>
            <a:ext cx="3840480" cy="566928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2587752"/>
            <a:ext cx="54864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4764024" y="26609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12664" y="263347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除弊收官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关键Bug修复 · 开发统计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壹 · 项目概览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西游 Roguelike 卡牌游戏 · 内容规模一览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187452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可选角色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悟空·八戒·沙僧·三藏·白龙马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187452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71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卡牌总数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攻击·防御·技能·能力四类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187452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71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妖怪总数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小怪22 · 精英6 · Boss23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234440"/>
            <a:ext cx="187452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71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4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72084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宝物总数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常规宝物 + 8件皇帝御赐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127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3.4 · Java 17 · JPA · Redis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· TypeScript · Vite · Pinia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通信：REST API · WebSocket(STOMP) · JWT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部署：Docker Compose · Nginx · Prometheus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3840480" cy="14630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017520"/>
            <a:ext cx="54864" cy="1463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3127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游戏特色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36592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Roguelike 逐层探索 · 7层地图递进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回合制卡牌战斗 · Buff/Debuff 系统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5人联机 PvE · 抢出牌协作机制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唐太宗赐宝 · 三选一御赐遗物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贰 · 开发纪元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六日开发 · 二十二节点 · 自原型至联机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88720" y="1280160"/>
            <a:ext cx="0" cy="329184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88720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1556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1024128"/>
            <a:ext cx="7178040" cy="512064"/>
          </a:xfrm>
          <a:prstGeom prst="rect">
            <a:avLst/>
          </a:prstGeom>
          <a:solidFill>
            <a:srgbClr val="2A2A4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024128"/>
            <a:ext cx="45720" cy="5120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673352" y="1060704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项目初创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卡牌效果修复 · 商店购买逻辑 · 存档系统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011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93852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847088"/>
            <a:ext cx="7178040" cy="512064"/>
          </a:xfrm>
          <a:prstGeom prst="rect">
            <a:avLst/>
          </a:prstGeom>
          <a:solidFill>
            <a:srgbClr val="2A2A4E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1847088"/>
            <a:ext cx="45720" cy="5120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1883664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内容扩充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卡牌升级 · 虚弱Debuff · Redis集成 · 分布式架构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834640"/>
            <a:ext cx="201168" cy="20116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76148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08760" y="2670048"/>
            <a:ext cx="7178040" cy="512064"/>
          </a:xfrm>
          <a:prstGeom prst="rect">
            <a:avLst/>
          </a:prstGeom>
          <a:solidFill>
            <a:srgbClr val="2A2A4E"/>
          </a:solidFill>
          <a:ln w="6350">
            <a:solidFill>
              <a:srgbClr val="4A7C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2670048"/>
            <a:ext cx="45720" cy="51206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1" name="Text 19"/>
          <p:cNvSpPr/>
          <p:nvPr/>
        </p:nvSpPr>
        <p:spPr>
          <a:xfrm>
            <a:off x="1673352" y="2706624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工程加固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安全加固 · 限流修复 · 企业级代码重构 · 联机启动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3657600"/>
            <a:ext cx="201168" cy="201168"/>
          </a:xfrm>
          <a:prstGeom prst="ellipse">
            <a:avLst/>
          </a:prstGeom>
          <a:solidFill>
            <a:srgbClr val="2B4C7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584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3493008"/>
            <a:ext cx="7178040" cy="512064"/>
          </a:xfrm>
          <a:prstGeom prst="rect">
            <a:avLst/>
          </a:prstGeom>
          <a:solidFill>
            <a:srgbClr val="2A2A4E"/>
          </a:solidFill>
          <a:ln w="6350">
            <a:solidFill>
              <a:srgbClr val="2B4C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3493008"/>
            <a:ext cx="45720" cy="512064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26" name="Text 24"/>
          <p:cNvSpPr/>
          <p:nvPr/>
        </p:nvSpPr>
        <p:spPr>
          <a:xfrm>
            <a:off x="1673352" y="3529584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联机成型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多人房间 · WebSocket · 多人地图 · 端到端联调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44805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40740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08760" y="4315968"/>
            <a:ext cx="7178040" cy="512064"/>
          </a:xfrm>
          <a:prstGeom prst="rect">
            <a:avLst/>
          </a:prstGeom>
          <a:solidFill>
            <a:srgbClr val="2A2A4E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8760" y="4315968"/>
            <a:ext cx="45720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673352" y="4352544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内容完善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51妖怪扩充 · 卡通图片替换 · UI优化 · 结构清理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叁 · 核心算法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四堆牌库 · 战斗状态机 · 伤害计算公式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牌库循环系统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A2A4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抽牌堆 drawPile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103120"/>
            <a:ext cx="0" cy="228600"/>
          </a:xfrm>
          <a:prstGeom prst="line">
            <a:avLst/>
          </a:prstGeom>
          <a:noFill/>
          <a:ln w="1905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3317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手牌 hand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2834640"/>
            <a:ext cx="0" cy="228600"/>
          </a:xfrm>
          <a:prstGeom prst="line">
            <a:avLst/>
          </a:prstGeom>
          <a:noFill/>
          <a:ln w="1905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06324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63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弃牌堆 discardPile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3566160"/>
            <a:ext cx="0" cy="228600"/>
          </a:xfrm>
          <a:prstGeom prst="line">
            <a:avLst/>
          </a:prstGeom>
          <a:noFill/>
          <a:ln w="1905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79476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洗牌 → 抽牌堆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 洗牌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188720"/>
            <a:ext cx="54864" cy="1371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战斗有限状态机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36592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回合：玩家出牌→结束回合→敌人意图→伤害结算→新回合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敌人AI：movePattern 循环 · patternIndex %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697480"/>
            <a:ext cx="4114800" cy="12344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697480"/>
            <a:ext cx="54864" cy="12344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伤害计算公式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3154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伤害 = (基础 + 力量) × 虚弱(0.75) × 易伤(1.5)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格挡 = 基础 + 敏捷 · Debuff 前置生效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023360"/>
            <a:ext cx="4114800" cy="7772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023360"/>
            <a:ext cx="54864" cy="7772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4133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Buff/Debuff 系统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36592" y="4480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merge() 叠层 · tickBuffs() 衰减 · 永久/临时分层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肆 · 功能模块全景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十大模块 · 四层架构 · 单机与多人双线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280160" cy="64008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前端展示层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188720"/>
            <a:ext cx="2197608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7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188720"/>
            <a:ext cx="210616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首页/角色选择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1856" y="1188720"/>
            <a:ext cx="2197608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7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7576" y="1188720"/>
            <a:ext cx="210616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单机地图与战斗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89192" y="1188720"/>
            <a:ext cx="2197608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7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4912" y="1188720"/>
            <a:ext cx="210616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多人房间与战斗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93392"/>
            <a:ext cx="1280160" cy="64008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9339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业务功能层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1993392"/>
            <a:ext cx="12746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993392"/>
            <a:ext cx="11832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认证账户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58922" y="1993392"/>
            <a:ext cx="12746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4642" y="1993392"/>
            <a:ext cx="11832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单机冒险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3323" y="1993392"/>
            <a:ext cx="12746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9043" y="1993392"/>
            <a:ext cx="11832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单机战斗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7725" y="1993392"/>
            <a:ext cx="12746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3445" y="1993392"/>
            <a:ext cx="11832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多人房间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12126" y="1993392"/>
            <a:ext cx="12746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7846" y="1993392"/>
            <a:ext cx="11832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协作战斗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798064"/>
            <a:ext cx="1280160" cy="64008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98064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领域模型层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2798064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798064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领域模型与数据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02736"/>
            <a:ext cx="1280160" cy="64008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02736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 技术支撑层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602736"/>
            <a:ext cx="16207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3602736"/>
            <a:ext cx="15293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安全控制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05022" y="3602736"/>
            <a:ext cx="16207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0742" y="3602736"/>
            <a:ext cx="15293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会话存储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35524" y="3602736"/>
            <a:ext cx="16207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1244" y="3602736"/>
            <a:ext cx="15293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基础设施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66026" y="3602736"/>
            <a:ext cx="1620774" cy="640080"/>
          </a:xfrm>
          <a:prstGeom prst="roundRect">
            <a:avLst>
              <a:gd name="adj" fmla="val 11429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1746" y="3602736"/>
            <a:ext cx="15293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部署监控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453128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1207008" y="44165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核心业务模块（5个）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4453128"/>
            <a:ext cx="137160" cy="13716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43" name="Text 41"/>
          <p:cNvSpPr/>
          <p:nvPr/>
        </p:nvSpPr>
        <p:spPr>
          <a:xfrm>
            <a:off x="3584448" y="44165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领域模型（1个）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4453128"/>
            <a:ext cx="137160" cy="137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5961888" y="44165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技术支撑模块（4个）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肆·一 · 单机游戏线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认证 · 冒险 · 战斗 — 三模块协作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61772" y="1234440"/>
            <a:ext cx="2606040" cy="160020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" y="1234440"/>
            <a:ext cx="260604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认证与账户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" y="1737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 / 登录 / 游客登录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签发与鉴权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localStorage 缓存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JwtUtil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1234440"/>
            <a:ext cx="2606040" cy="160020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234440"/>
            <a:ext cx="260604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40614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单机冒险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6140" y="1737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新游戏 · 地图探索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节点事件：休息/篝火/宝箱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商店 · 皇帝赐宝 · 随机事件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卡组管理与升级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GameController · GameService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6188" y="1234440"/>
            <a:ext cx="2606040" cy="160020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6188" y="1234440"/>
            <a:ext cx="260604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3348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单机战斗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3348" y="1737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回合制卡牌战斗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出牌 · 结束回合 · 敌人AI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卡牌奖励(5选1) · 遗物触发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BattleController</a:t>
            </a:r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BattleService · GameCharacter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单机调用链路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前端发起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749040"/>
            <a:ext cx="109728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38528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JWT鉴权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3749040"/>
            <a:ext cx="109728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82696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GameController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17136" y="3749040"/>
            <a:ext cx="109728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26864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61304" y="3749040"/>
            <a:ext cx="109728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71032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05472" y="3749040"/>
            <a:ext cx="109728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15200" y="35204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A2A4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3520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Redis/内存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单机线走 GameSession 内存/Redis 会话，5角色 · 7层地图 · 80+卡牌 · 63妖怪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肆·二 · 多人游戏线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房间系统 · 协作战斗 — 五人PvE联机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384048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44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多人房间系统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创建/加入/退出房间（8位房间码）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角色选择 · 准备状态切换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房主开始游戏 · 多人地图探索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实时广播房间状态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RoomController · RoomService · RoomStore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34440"/>
            <a:ext cx="384048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44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多人协作战斗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5人PvE · 抢出牌机制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服务端锁保证出牌原子性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所有玩家结束回合 → 敌人行动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战斗奖励 · 返回地图探索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MultiplayerBattleController ·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联机数据流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A2A4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玩家A/B/C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(浏览器)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3726180"/>
            <a:ext cx="137160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40280" y="33832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(STOMP)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3726180"/>
            <a:ext cx="137160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40480" y="33832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房间状态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3726180"/>
            <a:ext cx="137160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40680" y="33832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战斗状态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3726180"/>
            <a:ext cx="137160" cy="0"/>
          </a:xfrm>
          <a:prstGeom prst="line">
            <a:avLst/>
          </a:prstGeom>
          <a:noFill/>
          <a:ln w="12700">
            <a:solidFill>
              <a:srgbClr val="8B7E5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33832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A2A4E"/>
          </a:solidFill>
          <a:ln w="12700">
            <a:solidFill>
              <a:srgbClr val="8B7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3383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会话共享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多人线走 Room + 抢出牌 + WebSocket 广播，与单机线共享领域模型与技术支撑层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肆·三 · 模型与支撑层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领域模型 · 安全 · 会话 · 基础设施 · 部署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173736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73736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44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 领域模型与数据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691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实体：Card · Enemy · GameCharacter · Relic · MapNode · User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枚举：CardType · BuffType · CharacterClass · Rarity 等7类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DataInitializer 增量迁移（卡牌/妖怪/宝物）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5个 JPA Repository + Redis 缓存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114800" cy="173736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34440"/>
            <a:ext cx="54864" cy="1737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344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⑦⑧ 安全控制 + 会话存储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16916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JWT鉴权 · 滑窗限流30r/s · CORS白名单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SessionStore 内存/Redis双实现 · 分布式锁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 GameSession · 多人 Room + BattleState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多实例会话共享，支持横向扩展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840480" cy="14630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18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⑨ 基础设施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多环境配置：dev/standalone/distributed/prod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全局异常处理 · traceId链路追踪(MDC)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结构化JSON日志 · 缓存 · WebSocket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4114800" cy="1463040"/>
          </a:xfrm>
          <a:prstGeom prst="rect">
            <a:avLst/>
          </a:prstGeom>
          <a:solidFill>
            <a:srgbClr val="2A2A4E"/>
          </a:solidFill>
          <a:ln w="6350">
            <a:solidFill>
              <a:srgbClr val="8B7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108960"/>
            <a:ext cx="54864" cy="1463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3218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⑩ 部署与监控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3659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多实例编排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负载均衡 · 健康检查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· SonarQube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伍 · 工程实践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安全加固 · 分布式架构 · 监控部署 · 代码规范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384048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88720"/>
            <a:ext cx="54864" cy="1554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安全加固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强制鉴权（生产环境 ENFORCE_JWT=true）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滑窗限流 30 req/s · 429 拦截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白名单 · 密钥环境变量化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全局异常处理 5类错误码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校验注解 · @Transactional 一致性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4048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88720"/>
            <a:ext cx="54864" cy="1554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分布式架构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会话共享（内存/Redis 双实现）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持久化 · HikariCP 连接池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负载均衡（instance1:8081 + instance2:8082）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跨实例验证：建角/移动/战斗全流程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八容器编排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384048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926080"/>
            <a:ext cx="54864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监控部署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指标采集（JVM/HTTP/系统）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预置仪表盘可视化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链路追踪（8位 MDC + X-Trace-Id）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 JSON 日志（生产环境）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静态代码分析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3840480" cy="1554480"/>
          </a:xfrm>
          <a:prstGeom prst="rect">
            <a:avLst/>
          </a:prstGeom>
          <a:solidFill>
            <a:srgbClr val="2A2A4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926080"/>
            <a:ext cx="54864" cy="15544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017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4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代码规范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组装逻辑抽取 Assembler 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相关类归入 service.session 子包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自定义异常替代 RuntimeException（409/401）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移除用引用相等(==) 而非 equals()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单元测试 + 10 API 集成测试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陆·一 · 除弊志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spc="50" kern="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开发六日 · 关键Bug修复录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474720"/>
                <a:gridCol w="3200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问题描述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修复方案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copy()未复制id致手牌误删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引用相等(==)替代equals()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力量跨战叠加不重置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initBattle()归零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虚弱Debuff不影响当回合攻击卡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Debuff前置到伤害计算之前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遗物战斗开始效果未触发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应用到battle.getEnemy()副本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限流算法误杀move→startBattle连发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滑窗算法替代最小间隔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JPA实体无法序列化到Redis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移除4个Repository的@Cacheable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击杀敌人后游戏卡死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ArrayList&lt;&gt;(subList)包装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E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大唐皇宫节点无三选一界面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前端缓存清理 + EventModal重构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7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A2A4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5720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「前车之鉴，后事之师」— 序列化兼容性、引用相等、Debuff时序为三大高频陷阱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西行开发志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411980"/>
            <a:ext cx="73152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陆·二 · 收官志要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24688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开发周期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 — 7.26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4688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四层架构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4688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44+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7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8076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全部通过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「西行之路，始于足下；八十一难，皆成篇章」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B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感谢观看 · 西游记开发组 · 2026年7月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西行开发志 - 开发进程与功能模块编年史</dc:title>
  <dc:subject>PptxGenJS Presentation</dc:subject>
  <dc:creator>西游记开发组</dc:creator>
  <cp:lastModifiedBy>西游记开发组</cp:lastModifiedBy>
  <cp:revision>1</cp:revision>
  <dcterms:created xsi:type="dcterms:W3CDTF">2026-07-26T09:48:35Z</dcterms:created>
  <dcterms:modified xsi:type="dcterms:W3CDTF">2026-07-26T09:48:35Z</dcterms:modified>
</cp:coreProperties>
</file>